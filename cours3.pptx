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62" r:id="rId2"/>
    <p:sldId id="288" r:id="rId3"/>
    <p:sldId id="286" r:id="rId4"/>
    <p:sldId id="289" r:id="rId5"/>
    <p:sldId id="297" r:id="rId6"/>
    <p:sldId id="290" r:id="rId7"/>
    <p:sldId id="291" r:id="rId8"/>
    <p:sldId id="309" r:id="rId9"/>
    <p:sldId id="321" r:id="rId10"/>
    <p:sldId id="319" r:id="rId11"/>
    <p:sldId id="315" r:id="rId12"/>
    <p:sldId id="322" r:id="rId13"/>
    <p:sldId id="32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Style moyen 3 - Accentuation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020" autoAdjust="0"/>
  </p:normalViewPr>
  <p:slideViewPr>
    <p:cSldViewPr snapToGrid="0">
      <p:cViewPr varScale="1">
        <p:scale>
          <a:sx n="141" d="100"/>
          <a:sy n="141" d="100"/>
        </p:scale>
        <p:origin x="234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549D3F-BB68-4DB2-ADF1-91AD81BE0C5A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F65D7-7668-45C9-9F20-3C2B8B4BC9D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969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CE5A1-E4ED-1F49-80D1-7866C8A71EE6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380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CE5A1-E4ED-1F49-80D1-7866C8A71EE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689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BCE5A1-E4ED-1F49-80D1-7866C8A71EE6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005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UR2-dia-titre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91313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590800" y="3810000"/>
            <a:ext cx="6400800" cy="1142999"/>
          </a:xfrm>
        </p:spPr>
        <p:txBody>
          <a:bodyPr/>
          <a:lstStyle>
            <a:lvl1pPr algn="l">
              <a:defRPr sz="3600">
                <a:latin typeface="Pochoir Pleine" panose="02000503020000020004" pitchFamily="2" charset="0"/>
                <a:cs typeface="Verdana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90800" y="4953000"/>
            <a:ext cx="6400800" cy="11430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  <a:latin typeface="Pochoir Pleine" panose="02000503020000020004" pitchFamily="2" charset="0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70BBE49-FCCB-4A90-A45C-67088542EE9F}" type="datetime1">
              <a:rPr lang="fr-FR" smtClean="0"/>
              <a:t>24/08/2026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0CB7FB-1F47-4279-BE38-1D59200E4AE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945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diaPPt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2"/>
          <a:stretch/>
        </p:blipFill>
        <p:spPr bwMode="auto">
          <a:xfrm>
            <a:off x="0" y="0"/>
            <a:ext cx="1128156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259632" y="16564"/>
            <a:ext cx="7704855" cy="101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400" baseline="0">
                <a:solidFill>
                  <a:srgbClr val="DE0000"/>
                </a:solidFill>
                <a:latin typeface="Pochoir Pleine" panose="02000503020000020004" pitchFamily="2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  <a:endParaRPr lang="fr-FR" altLang="fr-FR" dirty="0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3571AEC-2BC4-4B6C-B79E-00D12817ECD9}" type="datetime1">
              <a:rPr lang="fr-FR" smtClean="0"/>
              <a:t>24/08/2026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pic>
        <p:nvPicPr>
          <p:cNvPr id="56322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28888"/>
            <a:ext cx="9144000" cy="55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algn="ctr">
              <a:defRPr sz="16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51519" y="1268760"/>
            <a:ext cx="8712967" cy="4896544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Pochoir Pleine" panose="02000503020000020004" pitchFamily="2" charset="0"/>
              <a:buChar char="&gt;"/>
              <a:defRPr sz="2800" b="1">
                <a:latin typeface="+mn-lt"/>
              </a:defRPr>
            </a:lvl1pPr>
            <a:lvl2pPr marL="667350" indent="-285750">
              <a:spcBef>
                <a:spcPts val="600"/>
              </a:spcBef>
              <a:buClr>
                <a:schemeClr val="accent2"/>
              </a:buClr>
              <a:buFont typeface="Pochoir Pleine" panose="02000503020000020004" pitchFamily="2" charset="0"/>
              <a:buChar char="&gt;"/>
              <a:defRPr sz="2400">
                <a:latin typeface="+mn-lt"/>
              </a:defRPr>
            </a:lvl2pPr>
            <a:lvl3pPr marL="1143000" indent="-228600">
              <a:buClr>
                <a:schemeClr val="accent3"/>
              </a:buClr>
              <a:buFont typeface="Pochoir Pleine" panose="02000503020000020004" pitchFamily="2" charset="0"/>
              <a:buChar char="›"/>
              <a:defRPr sz="2000">
                <a:latin typeface="+mn-lt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576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diaPPt.jp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662"/>
          <a:stretch/>
        </p:blipFill>
        <p:spPr bwMode="auto">
          <a:xfrm>
            <a:off x="0" y="0"/>
            <a:ext cx="1128156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259632" y="16564"/>
            <a:ext cx="7704855" cy="101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>
              <a:defRPr sz="3400" baseline="0">
                <a:solidFill>
                  <a:srgbClr val="DE0000"/>
                </a:solidFill>
                <a:latin typeface="Pochoir Pleine" panose="02000503020000020004" pitchFamily="2" charset="0"/>
              </a:defRPr>
            </a:lvl1pPr>
          </a:lstStyle>
          <a:p>
            <a:pPr lvl="0"/>
            <a:r>
              <a:rPr lang="fr-FR" altLang="fr-FR"/>
              <a:t>Modifiez le style du titre</a:t>
            </a:r>
            <a:endParaRPr lang="fr-FR" alt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algn="ctr">
              <a:defRPr sz="1600" b="1"/>
            </a:lvl1pPr>
          </a:lstStyle>
          <a:p>
            <a:pPr>
              <a:defRPr/>
            </a:pPr>
            <a:fld id="{9AA5C746-148B-4EBA-97BC-84171D2CF4DA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51519" y="1268760"/>
            <a:ext cx="8712967" cy="5400600"/>
          </a:xfrm>
        </p:spPr>
        <p:txBody>
          <a:bodyPr/>
          <a:lstStyle>
            <a:lvl1pPr marL="342900" indent="-342900">
              <a:buClr>
                <a:schemeClr val="accent1"/>
              </a:buClr>
              <a:buFont typeface="Pochoir Pleine" panose="02000503020000020004" pitchFamily="2" charset="0"/>
              <a:buChar char="&gt;"/>
              <a:defRPr sz="2800" b="1">
                <a:latin typeface="+mn-lt"/>
              </a:defRPr>
            </a:lvl1pPr>
            <a:lvl2pPr marL="667350" indent="-285750">
              <a:spcBef>
                <a:spcPts val="600"/>
              </a:spcBef>
              <a:buClr>
                <a:srgbClr val="004DFF"/>
              </a:buClr>
              <a:buFont typeface="Pochoir Pleine" panose="02000503020000020004" pitchFamily="2" charset="0"/>
              <a:buChar char="&gt;"/>
              <a:defRPr sz="2400">
                <a:latin typeface="+mn-lt"/>
              </a:defRPr>
            </a:lvl2pPr>
            <a:lvl3pPr marL="1143000" indent="-228600">
              <a:buClr>
                <a:srgbClr val="29C200"/>
              </a:buClr>
              <a:buFont typeface="Pochoir Pleine" panose="02000503020000020004" pitchFamily="2" charset="0"/>
              <a:buChar char="›"/>
              <a:defRPr sz="2000">
                <a:latin typeface="+mn-lt"/>
              </a:defRPr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671198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FFCB7-D57F-4C8C-BA32-2BA73F4500C6}" type="datetime1">
              <a:rPr lang="fr-FR" smtClean="0"/>
              <a:t>24/08/2026</a:t>
            </a:fld>
            <a:endParaRPr lang="fr-FR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8B791-9587-46D3-BA8A-979462B0508D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5159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apositive de 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6" descr="UR2-dia-titre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64"/>
          <a:stretch/>
        </p:blipFill>
        <p:spPr bwMode="auto">
          <a:xfrm>
            <a:off x="6350" y="0"/>
            <a:ext cx="9131300" cy="3548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946486" y="3810000"/>
            <a:ext cx="5825913" cy="1142999"/>
          </a:xfrm>
        </p:spPr>
        <p:txBody>
          <a:bodyPr/>
          <a:lstStyle>
            <a:lvl1pPr algn="l">
              <a:defRPr sz="3600">
                <a:solidFill>
                  <a:srgbClr val="DE0000"/>
                </a:solidFill>
                <a:latin typeface="Pochoir Pleine"/>
                <a:cs typeface="Pochoir Pleine"/>
              </a:defRPr>
            </a:lvl1pPr>
          </a:lstStyle>
          <a:p>
            <a:r>
              <a:rPr lang="en-US"/>
              <a:t>Cliquez et modifiez le titre</a:t>
            </a:r>
            <a:endParaRPr lang="fr-FR" dirty="0"/>
          </a:p>
        </p:txBody>
      </p:sp>
      <p:pic>
        <p:nvPicPr>
          <p:cNvPr id="5" name="Image 6" descr="UR2-dia-titre.jp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64"/>
          <a:stretch/>
        </p:blipFill>
        <p:spPr bwMode="auto">
          <a:xfrm>
            <a:off x="6350" y="0"/>
            <a:ext cx="9131300" cy="3548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1275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et modifiez le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CA852A4D-1BFF-498F-B63C-A36E50EC025B}" type="datetime1">
              <a:rPr lang="fr-FR" smtClean="0"/>
              <a:t>24/08/2026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cs typeface="ＭＳ Ｐゴシック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>
              <a:defRPr/>
            </a:pPr>
            <a:fld id="{501B941A-0444-44D9-B8F6-F78B7957E15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84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tavenar.github.io/doc_openrouteservice/" TargetMode="External"/><Relationship Id="rId2" Type="http://schemas.openxmlformats.org/officeDocument/2006/relationships/hyperlink" Target="https://openrouteservice.org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dirty="0"/>
              <a:t>Python et Open Data</a:t>
            </a:r>
            <a:br>
              <a:rPr lang="fr-FR" altLang="fr-FR" dirty="0"/>
            </a:br>
            <a:br>
              <a:rPr lang="fr-FR" altLang="fr-FR" dirty="0"/>
            </a:br>
            <a:r>
              <a:rPr lang="fr-FR" altLang="fr-FR" dirty="0"/>
              <a:t>API </a:t>
            </a:r>
            <a:r>
              <a:rPr lang="fr-FR" altLang="fr-FR" dirty="0" err="1"/>
              <a:t>OpenRouteService</a:t>
            </a:r>
            <a:endParaRPr lang="fr-FR" dirty="0"/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br>
              <a:rPr lang="fr-FR" altLang="fr-FR" dirty="0"/>
            </a:br>
            <a:endParaRPr lang="fr-FR" dirty="0"/>
          </a:p>
        </p:txBody>
      </p:sp>
      <p:sp>
        <p:nvSpPr>
          <p:cNvPr id="7171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lvl="0"/>
            <a:fld id="{CD34FC44-51F7-4AF7-AD83-C5D43328579B}" type="slidenum">
              <a:rPr lang="fr-FR" altLang="fr-FR" noProof="0" smtClean="0"/>
              <a:pPr lvl="0"/>
              <a:t>1</a:t>
            </a:fld>
            <a:endParaRPr lang="fr-FR" altLang="fr-FR" noProof="0" dirty="0"/>
          </a:p>
        </p:txBody>
      </p:sp>
    </p:spTree>
    <p:extLst>
      <p:ext uri="{BB962C8B-B14F-4D97-AF65-F5344CB8AC3E}">
        <p14:creationId xmlns:p14="http://schemas.microsoft.com/office/powerpoint/2010/main" val="19857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985422" y="3810000"/>
            <a:ext cx="7910004" cy="1142999"/>
          </a:xfrm>
        </p:spPr>
        <p:txBody>
          <a:bodyPr/>
          <a:lstStyle/>
          <a:p>
            <a:r>
              <a:rPr lang="fr-FR" dirty="0"/>
              <a:t>Généralités sur les API</a:t>
            </a:r>
          </a:p>
        </p:txBody>
      </p:sp>
    </p:spTree>
    <p:extLst>
      <p:ext uri="{BB962C8B-B14F-4D97-AF65-F5344CB8AC3E}">
        <p14:creationId xmlns:p14="http://schemas.microsoft.com/office/powerpoint/2010/main" val="385850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API</a:t>
            </a:r>
          </a:p>
          <a:p>
            <a:pPr lvl="1"/>
            <a:r>
              <a:rPr lang="fr-FR" i="1" dirty="0">
                <a:latin typeface="+mn-lt"/>
                <a:cs typeface="American Typewriter"/>
              </a:rPr>
              <a:t>Application </a:t>
            </a:r>
            <a:r>
              <a:rPr lang="fr-FR" i="1" dirty="0" err="1">
                <a:latin typeface="+mn-lt"/>
                <a:cs typeface="American Typewriter"/>
              </a:rPr>
              <a:t>Programming</a:t>
            </a:r>
            <a:r>
              <a:rPr lang="fr-FR" i="1" dirty="0">
                <a:latin typeface="+mn-lt"/>
                <a:cs typeface="American Typewriter"/>
              </a:rPr>
              <a:t> Interface</a:t>
            </a:r>
            <a:endParaRPr lang="fr-FR" dirty="0">
              <a:latin typeface="+mn-lt"/>
              <a:cs typeface="American Typewriter"/>
            </a:endParaRPr>
          </a:p>
          <a:p>
            <a:pPr lvl="1"/>
            <a:r>
              <a:rPr lang="fr-FR" dirty="0">
                <a:latin typeface="+mn-lt"/>
                <a:cs typeface="American Typewriter"/>
              </a:rPr>
              <a:t>Bibliothèque de fonctions d’accès à un programme </a:t>
            </a:r>
          </a:p>
          <a:p>
            <a:pPr lvl="2"/>
            <a:r>
              <a:rPr lang="fr-FR" dirty="0">
                <a:latin typeface="+mn-lt"/>
                <a:cs typeface="American Typewriter"/>
              </a:rPr>
              <a:t>Arguments bien définis</a:t>
            </a:r>
          </a:p>
          <a:p>
            <a:pPr lvl="2"/>
            <a:r>
              <a:rPr lang="fr-FR" dirty="0">
                <a:latin typeface="+mn-lt"/>
                <a:cs typeface="American Typewriter"/>
              </a:rPr>
              <a:t>Valeurs de retour explicitées</a:t>
            </a:r>
          </a:p>
          <a:p>
            <a:r>
              <a:rPr lang="fr-FR" dirty="0">
                <a:latin typeface="+mn-lt"/>
                <a:cs typeface="American Typewriter"/>
              </a:rPr>
              <a:t>Cas particulier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API web d’accès aux données </a:t>
            </a:r>
            <a:br>
              <a:rPr lang="fr-FR" dirty="0">
                <a:latin typeface="+mn-lt"/>
                <a:cs typeface="American Typewriter"/>
              </a:rPr>
            </a:br>
            <a:r>
              <a:rPr lang="fr-FR" dirty="0">
                <a:latin typeface="+mn-lt"/>
                <a:cs typeface="American Typewriter"/>
              </a:rPr>
              <a:t>(mouvement Open Data)</a:t>
            </a:r>
          </a:p>
        </p:txBody>
      </p:sp>
    </p:spTree>
    <p:extLst>
      <p:ext uri="{BB962C8B-B14F-4D97-AF65-F5344CB8AC3E}">
        <p14:creationId xmlns:p14="http://schemas.microsoft.com/office/powerpoint/2010/main" val="568810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d’API web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+mn-lt"/>
                <a:cs typeface="American Typewriter"/>
              </a:rPr>
              <a:t>Google </a:t>
            </a:r>
            <a:r>
              <a:rPr lang="fr-FR" dirty="0" err="1">
                <a:latin typeface="+mn-lt"/>
                <a:cs typeface="American Typewriter"/>
              </a:rPr>
              <a:t>Maps</a:t>
            </a:r>
            <a:r>
              <a:rPr lang="fr-FR" dirty="0">
                <a:latin typeface="+mn-lt"/>
                <a:cs typeface="American Typewriter"/>
              </a:rPr>
              <a:t> / </a:t>
            </a:r>
            <a:r>
              <a:rPr lang="fr-FR" dirty="0" err="1">
                <a:latin typeface="+mn-lt"/>
                <a:cs typeface="American Typewriter"/>
              </a:rPr>
              <a:t>OpenRouteService</a:t>
            </a:r>
            <a:endParaRPr lang="fr-FR" dirty="0">
              <a:latin typeface="+mn-lt"/>
              <a:cs typeface="American Typewriter"/>
            </a:endParaRPr>
          </a:p>
          <a:p>
            <a:pPr lvl="1"/>
            <a:r>
              <a:rPr lang="fr-FR" dirty="0">
                <a:latin typeface="+mn-lt"/>
                <a:cs typeface="American Typewriter"/>
              </a:rPr>
              <a:t>Directions API</a:t>
            </a:r>
          </a:p>
          <a:p>
            <a:pPr lvl="1"/>
            <a:r>
              <a:rPr lang="fr-FR" dirty="0" err="1">
                <a:latin typeface="+mn-lt"/>
                <a:cs typeface="American Typewriter"/>
              </a:rPr>
              <a:t>Elevation</a:t>
            </a:r>
            <a:r>
              <a:rPr lang="fr-FR" dirty="0">
                <a:latin typeface="+mn-lt"/>
                <a:cs typeface="American Typewriter"/>
              </a:rPr>
              <a:t> API 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Distance Matrix API</a:t>
            </a:r>
          </a:p>
          <a:p>
            <a:pPr lvl="1"/>
            <a:r>
              <a:rPr lang="fr-FR" dirty="0" err="1">
                <a:latin typeface="+mn-lt"/>
                <a:cs typeface="American Typewriter"/>
              </a:rPr>
              <a:t>Geocoding</a:t>
            </a:r>
            <a:r>
              <a:rPr lang="fr-FR" dirty="0">
                <a:latin typeface="+mn-lt"/>
                <a:cs typeface="American Typewriter"/>
              </a:rPr>
              <a:t> API</a:t>
            </a:r>
          </a:p>
          <a:p>
            <a:r>
              <a:rPr lang="fr-FR" dirty="0">
                <a:latin typeface="+mn-lt"/>
                <a:cs typeface="American Typewriter"/>
              </a:rPr>
              <a:t>STAR (Transports en commun rennais)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Horaires des bus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Disponibilité des vélos dans les relais </a:t>
            </a:r>
            <a:r>
              <a:rPr lang="fr-FR" dirty="0" err="1">
                <a:latin typeface="+mn-lt"/>
                <a:cs typeface="American Typewriter"/>
              </a:rPr>
              <a:t>VéloStar</a:t>
            </a:r>
            <a:endParaRPr lang="fr-FR" dirty="0">
              <a:latin typeface="+mn-lt"/>
              <a:cs typeface="American Typewriter"/>
            </a:endParaRPr>
          </a:p>
          <a:p>
            <a:r>
              <a:rPr lang="fr-FR" i="1" dirty="0">
                <a:latin typeface="+mn-lt"/>
                <a:cs typeface="American Typewriter"/>
              </a:rPr>
              <a:t>…</a:t>
            </a:r>
          </a:p>
          <a:p>
            <a:pPr lvl="1"/>
            <a:endParaRPr lang="fr-FR" dirty="0">
              <a:latin typeface="+mn-lt"/>
              <a:cs typeface="American Typewriter"/>
            </a:endParaRPr>
          </a:p>
          <a:p>
            <a:endParaRPr lang="fr-FR" dirty="0">
              <a:latin typeface="+mn-lt"/>
              <a:cs typeface="American Typewriter"/>
            </a:endParaRPr>
          </a:p>
        </p:txBody>
      </p:sp>
    </p:spTree>
    <p:extLst>
      <p:ext uri="{BB962C8B-B14F-4D97-AF65-F5344CB8AC3E}">
        <p14:creationId xmlns:p14="http://schemas.microsoft.com/office/powerpoint/2010/main" val="3332951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d’utilisation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400" dirty="0"/>
              <a:t>Combien de kilomètres de Rennes à Saint-Malo ?</a:t>
            </a:r>
          </a:p>
          <a:p>
            <a:pPr lvl="1"/>
            <a:r>
              <a:rPr lang="fr-FR" sz="2000" dirty="0"/>
              <a:t>Sans API : utilisation d’un client web</a:t>
            </a:r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endParaRPr lang="fr-FR" sz="2000" dirty="0"/>
          </a:p>
          <a:p>
            <a:pPr lvl="1"/>
            <a:r>
              <a:rPr lang="fr-FR" sz="2000" dirty="0"/>
              <a:t>Comment obtenir ce résultat depuis un programme python ? </a:t>
            </a:r>
          </a:p>
          <a:p>
            <a:pPr marL="0" indent="0">
              <a:buNone/>
            </a:pPr>
            <a:endParaRPr lang="fr-FR" sz="24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379" y="1979068"/>
            <a:ext cx="4908191" cy="367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1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Requête vers une API WEB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+mn-lt"/>
                <a:cs typeface="American Typewriter"/>
              </a:rPr>
              <a:t>Principe de fonctionnement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Envoi d’une requête HTTP</a:t>
            </a:r>
          </a:p>
          <a:p>
            <a:pPr lvl="2"/>
            <a:r>
              <a:rPr lang="fr-FR" dirty="0">
                <a:cs typeface="American Typewriter"/>
              </a:rPr>
              <a:t>A une URL</a:t>
            </a:r>
          </a:p>
          <a:p>
            <a:pPr lvl="2"/>
            <a:r>
              <a:rPr lang="fr-FR" dirty="0">
                <a:cs typeface="American Typewriter"/>
              </a:rPr>
              <a:t>Avec des paramètres</a:t>
            </a:r>
            <a:endParaRPr lang="fr-FR" dirty="0">
              <a:latin typeface="+mn-lt"/>
              <a:cs typeface="American Typewriter"/>
            </a:endParaRPr>
          </a:p>
          <a:p>
            <a:pPr lvl="1"/>
            <a:r>
              <a:rPr lang="fr-FR" dirty="0">
                <a:latin typeface="+mn-lt"/>
                <a:cs typeface="American Typewriter"/>
              </a:rPr>
              <a:t>Récupération d’un résultat</a:t>
            </a:r>
          </a:p>
          <a:p>
            <a:r>
              <a:rPr lang="fr-FR" sz="2400" dirty="0"/>
              <a:t>Combien de kilomètres de Rennes à Saint-Malo ?</a:t>
            </a:r>
          </a:p>
          <a:p>
            <a:pPr lvl="1"/>
            <a:r>
              <a:rPr lang="fr-FR" sz="2000" dirty="0"/>
              <a:t>Avec API : possibilité de récupérer la réponse dans un fichier </a:t>
            </a:r>
            <a:r>
              <a:rPr lang="fr-FR" sz="2000" dirty="0" err="1"/>
              <a:t>json</a:t>
            </a:r>
            <a:endParaRPr lang="fr-FR" sz="2000" dirty="0"/>
          </a:p>
          <a:p>
            <a:pPr lvl="1"/>
            <a:r>
              <a:rPr lang="fr-FR" sz="2000" dirty="0"/>
              <a:t>Requête : </a:t>
            </a:r>
          </a:p>
          <a:p>
            <a:pPr lvl="1"/>
            <a:endParaRPr lang="fr-FR" sz="2000" dirty="0"/>
          </a:p>
          <a:p>
            <a:pPr lvl="1"/>
            <a:r>
              <a:rPr lang="fr-FR" sz="2000" dirty="0"/>
              <a:t>Résultat :</a:t>
            </a:r>
          </a:p>
          <a:p>
            <a:endParaRPr lang="fr-FR" dirty="0">
              <a:latin typeface="+mn-lt"/>
              <a:cs typeface="American Typewriter"/>
            </a:endParaRPr>
          </a:p>
          <a:p>
            <a:pPr marL="0" indent="0" algn="ctr">
              <a:buNone/>
            </a:pPr>
            <a:endParaRPr lang="fr-FR" sz="1800" dirty="0">
              <a:latin typeface="American Typewriter"/>
              <a:cs typeface="American Typewriter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88957B1-00DE-4EB6-8EAC-5DD00446073F}"/>
              </a:ext>
            </a:extLst>
          </p:cNvPr>
          <p:cNvSpPr txBox="1"/>
          <p:nvPr/>
        </p:nvSpPr>
        <p:spPr>
          <a:xfrm>
            <a:off x="10429" y="4656504"/>
            <a:ext cx="9195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err="1">
                <a:solidFill>
                  <a:schemeClr val="accent1"/>
                </a:solidFill>
                <a:latin typeface="American Typewriter"/>
                <a:cs typeface="American Typewriter"/>
              </a:rPr>
              <a:t>https</a:t>
            </a:r>
            <a:r>
              <a:rPr lang="fr-FR" sz="1600" dirty="0">
                <a:solidFill>
                  <a:schemeClr val="accent1"/>
                </a:solidFill>
                <a:latin typeface="American Typewriter"/>
                <a:cs typeface="American Typewriter"/>
              </a:rPr>
              <a:t>://</a:t>
            </a:r>
            <a:r>
              <a:rPr lang="fr-FR" sz="1600" dirty="0" err="1">
                <a:solidFill>
                  <a:schemeClr val="accent3">
                    <a:lumMod val="50000"/>
                  </a:schemeClr>
                </a:solidFill>
                <a:latin typeface="American Typewriter"/>
                <a:cs typeface="American Typewriter"/>
              </a:rPr>
              <a:t>maps.googleapis.com</a:t>
            </a:r>
            <a:r>
              <a:rPr lang="fr-FR" sz="1600" dirty="0">
                <a:solidFill>
                  <a:schemeClr val="accent3">
                    <a:lumMod val="50000"/>
                  </a:schemeClr>
                </a:solidFill>
                <a:latin typeface="American Typewriter"/>
                <a:cs typeface="American Typewriter"/>
              </a:rPr>
              <a:t>/</a:t>
            </a:r>
            <a:r>
              <a:rPr lang="fr-FR" sz="1600" dirty="0">
                <a:solidFill>
                  <a:schemeClr val="accent6"/>
                </a:solidFill>
                <a:latin typeface="American Typewriter"/>
                <a:cs typeface="American Typewriter"/>
              </a:rPr>
              <a:t>[</a:t>
            </a:r>
            <a:r>
              <a:rPr lang="mr-IN" sz="1600" dirty="0">
                <a:solidFill>
                  <a:schemeClr val="accent6"/>
                </a:solidFill>
                <a:latin typeface="American Typewriter"/>
                <a:cs typeface="American Typewriter"/>
              </a:rPr>
              <a:t>…</a:t>
            </a:r>
            <a:r>
              <a:rPr lang="en-US" sz="1600" dirty="0">
                <a:solidFill>
                  <a:schemeClr val="accent6"/>
                </a:solidFill>
                <a:latin typeface="American Typewriter"/>
                <a:cs typeface="American Typewriter"/>
              </a:rPr>
              <a:t>]</a:t>
            </a:r>
            <a:r>
              <a:rPr lang="fr-FR" sz="1600" dirty="0">
                <a:solidFill>
                  <a:schemeClr val="accent6"/>
                </a:solidFill>
                <a:latin typeface="American Typewriter"/>
                <a:cs typeface="American Typewriter"/>
              </a:rPr>
              <a:t>/</a:t>
            </a:r>
            <a:r>
              <a:rPr lang="fr-FR" sz="1600" dirty="0" err="1">
                <a:solidFill>
                  <a:schemeClr val="accent6"/>
                </a:solidFill>
                <a:latin typeface="American Typewriter"/>
                <a:cs typeface="American Typewriter"/>
              </a:rPr>
              <a:t>json</a:t>
            </a:r>
            <a:r>
              <a:rPr lang="fr-FR" sz="1600" dirty="0" err="1">
                <a:solidFill>
                  <a:srgbClr val="F79646"/>
                </a:solidFill>
                <a:latin typeface="American Typewriter"/>
                <a:cs typeface="American Typewriter"/>
              </a:rPr>
              <a:t>?</a:t>
            </a:r>
            <a:r>
              <a:rPr lang="fr-FR" sz="1600" dirty="0" err="1">
                <a:solidFill>
                  <a:schemeClr val="accent4"/>
                </a:solidFill>
                <a:latin typeface="American Typewriter"/>
                <a:cs typeface="American Typewriter"/>
              </a:rPr>
              <a:t>origin</a:t>
            </a:r>
            <a:r>
              <a:rPr lang="fr-FR" sz="1600" dirty="0">
                <a:solidFill>
                  <a:schemeClr val="accent4"/>
                </a:solidFill>
                <a:latin typeface="American Typewriter"/>
                <a:cs typeface="American Typewriter"/>
              </a:rPr>
              <a:t>=</a:t>
            </a:r>
            <a:r>
              <a:rPr lang="fr-FR" sz="1600" dirty="0" err="1">
                <a:solidFill>
                  <a:schemeClr val="accent4"/>
                </a:solidFill>
                <a:latin typeface="American Typewriter"/>
                <a:cs typeface="American Typewriter"/>
              </a:rPr>
              <a:t>Rennes&amp;destination</a:t>
            </a:r>
            <a:r>
              <a:rPr lang="fr-FR" sz="1600" dirty="0">
                <a:solidFill>
                  <a:schemeClr val="accent4"/>
                </a:solidFill>
                <a:latin typeface="American Typewriter"/>
                <a:cs typeface="American Typewriter"/>
              </a:rPr>
              <a:t>=Saint-Malo</a:t>
            </a:r>
            <a:endParaRPr lang="fr-FR" sz="1600" dirty="0">
              <a:solidFill>
                <a:schemeClr val="bg1">
                  <a:lumMod val="50000"/>
                </a:schemeClr>
              </a:solidFill>
              <a:latin typeface="Verdana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8FAEE9-8C54-48F7-8CAD-EB3DB0F9E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64" y="5284365"/>
            <a:ext cx="871505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geocoded_waypoints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[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geocoder_status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"OK",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place_id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"ChIJhZDWpy_eDkgRMKvkNs2lDAQ", "types" : [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locality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political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] },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geocoder_status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"OK",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place_id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"ChIJXb8mIRCBDkgRLeErsq196fg", "types" : [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locality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political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] } ], "routes" : [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bounds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northeast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48.6500178,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-1.6762884 },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southwest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48.11724419999999,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-2.0284726 } }, "copyrights" : "Données cartographiques ©2018 Google", "legs" : [ {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 Unicode MS"/>
              </a:rPr>
              <a:t>"distance"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 {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 Unicode MS"/>
              </a:rPr>
              <a:t>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accent6"/>
                </a:solidFill>
                <a:effectLst/>
                <a:latin typeface="Arial Unicode MS"/>
              </a:rPr>
              <a:t>text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6"/>
                </a:solidFill>
                <a:effectLst/>
                <a:latin typeface="Arial Unicode MS"/>
              </a:rPr>
              <a:t>" : "69,5 km", "value" : 69503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}, "duration" :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"57 minutes", "value" : 3433 }, 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end_address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" : "Saint-Malo, France"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end_location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48.64928090000001,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-2.0260003 },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start_address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" : "Rennes, France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start_location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{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lat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48.117265, "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lng</a:t>
            </a: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: -1.6777931 },</a:t>
            </a:r>
            <a: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…</a:t>
            </a:r>
            <a:endParaRPr kumimoji="0" lang="fr-FR" altLang="fr-F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97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Notion de clé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>
                <a:latin typeface="+mn-lt"/>
                <a:cs typeface="American Typewriter"/>
              </a:rPr>
              <a:t>Souvent, besoin de spécifier une clé d’utilisation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Pour identifier les utilisateurs</a:t>
            </a:r>
          </a:p>
          <a:p>
            <a:pPr lvl="2"/>
            <a:r>
              <a:rPr lang="fr-FR" dirty="0">
                <a:cs typeface="American Typewriter"/>
              </a:rPr>
              <a:t>Les bloquer en cas d’utilisation frauduleuse</a:t>
            </a:r>
          </a:p>
          <a:p>
            <a:pPr lvl="2"/>
            <a:r>
              <a:rPr lang="fr-FR" dirty="0">
                <a:cs typeface="American Typewriter"/>
              </a:rPr>
              <a:t>Les faire payer en cas d’accès intensif à l’API</a:t>
            </a:r>
          </a:p>
          <a:p>
            <a:pPr lvl="1"/>
            <a:r>
              <a:rPr lang="fr-FR" dirty="0">
                <a:latin typeface="+mn-lt"/>
                <a:cs typeface="American Typewriter"/>
              </a:rPr>
              <a:t>Pour limiter le nombre de requêtes par personne</a:t>
            </a:r>
          </a:p>
          <a:p>
            <a:endParaRPr lang="fr-FR" dirty="0">
              <a:cs typeface="American Typewriter"/>
            </a:endParaRPr>
          </a:p>
          <a:p>
            <a:endParaRPr lang="fr-FR" dirty="0">
              <a:cs typeface="American Typewriter"/>
            </a:endParaRPr>
          </a:p>
          <a:p>
            <a:endParaRPr lang="fr-FR" dirty="0">
              <a:cs typeface="American Typewriter"/>
            </a:endParaRPr>
          </a:p>
          <a:p>
            <a:endParaRPr lang="fr-FR" dirty="0">
              <a:cs typeface="American Typewriter"/>
            </a:endParaRPr>
          </a:p>
          <a:p>
            <a:r>
              <a:rPr lang="fr-FR" dirty="0">
                <a:cs typeface="American Typewriter"/>
              </a:rPr>
              <a:t>Exemple sur Google</a:t>
            </a:r>
          </a:p>
          <a:p>
            <a:pPr lvl="1"/>
            <a:r>
              <a:rPr lang="fr-FR" dirty="0">
                <a:cs typeface="American Typewriter"/>
              </a:rPr>
              <a:t>API key</a:t>
            </a:r>
          </a:p>
          <a:p>
            <a:pPr lvl="1"/>
            <a:r>
              <a:rPr lang="fr-FR" dirty="0">
                <a:cs typeface="American Typewriter"/>
              </a:rPr>
              <a:t>Associée à un compte Gmail</a:t>
            </a:r>
          </a:p>
          <a:p>
            <a:pPr lvl="1"/>
            <a:r>
              <a:rPr lang="fr-FR" dirty="0">
                <a:cs typeface="American Typewriter"/>
              </a:rPr>
              <a:t>Ouverte pour un certain nombre d’API choisies par l’utilisateur</a:t>
            </a:r>
          </a:p>
          <a:p>
            <a:pPr lvl="1"/>
            <a:endParaRPr lang="fr-FR" dirty="0">
              <a:latin typeface="+mn-lt"/>
              <a:cs typeface="American Typewriter"/>
            </a:endParaRPr>
          </a:p>
          <a:p>
            <a:pPr marL="0" indent="0" algn="ctr">
              <a:buNone/>
            </a:pPr>
            <a:endParaRPr lang="fr-FR" sz="1800" dirty="0">
              <a:latin typeface="American Typewriter"/>
              <a:cs typeface="American Typewriter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313769" y="3072224"/>
            <a:ext cx="8469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dirty="0">
                <a:solidFill>
                  <a:schemeClr val="accent1"/>
                </a:solidFill>
                <a:latin typeface="American Typewriter"/>
                <a:cs typeface="American Typewriter"/>
              </a:rPr>
              <a:t>https://</a:t>
            </a:r>
            <a:r>
              <a:rPr lang="fr-FR" sz="2400" dirty="0">
                <a:solidFill>
                  <a:schemeClr val="accent3">
                    <a:lumMod val="50000"/>
                  </a:schemeClr>
                </a:solidFill>
                <a:latin typeface="American Typewriter"/>
                <a:cs typeface="American Typewriter"/>
              </a:rPr>
              <a:t>maps.googleapis.com/</a:t>
            </a:r>
            <a:r>
              <a:rPr lang="fr-FR" sz="2400" dirty="0">
                <a:solidFill>
                  <a:schemeClr val="accent6"/>
                </a:solidFill>
                <a:latin typeface="American Typewriter"/>
                <a:cs typeface="American Typewriter"/>
              </a:rPr>
              <a:t>maps/api/directions/json</a:t>
            </a:r>
            <a:r>
              <a:rPr lang="fr-FR" sz="2400" dirty="0">
                <a:solidFill>
                  <a:srgbClr val="F79646"/>
                </a:solidFill>
                <a:latin typeface="American Typewriter"/>
                <a:cs typeface="American Typewriter"/>
              </a:rPr>
              <a:t>?</a:t>
            </a:r>
            <a:r>
              <a:rPr lang="fr-FR" sz="2400" dirty="0">
                <a:solidFill>
                  <a:schemeClr val="accent4"/>
                </a:solidFill>
                <a:latin typeface="American Typewriter"/>
                <a:cs typeface="American Typewriter"/>
              </a:rPr>
              <a:t>origin=Rennes&amp;destination=Saint-Malo&amp;</a:t>
            </a:r>
            <a:r>
              <a:rPr lang="fr-FR" sz="2400" dirty="0">
                <a:solidFill>
                  <a:schemeClr val="accent1"/>
                </a:solidFill>
                <a:latin typeface="American Typewriter"/>
                <a:cs typeface="American Typewriter"/>
              </a:rPr>
              <a:t>key=</a:t>
            </a:r>
            <a:r>
              <a:rPr lang="fr-FR" sz="2400" b="1" dirty="0">
                <a:solidFill>
                  <a:schemeClr val="accent1"/>
                </a:solidFill>
                <a:latin typeface="American Typewriter"/>
                <a:cs typeface="American Typewriter"/>
              </a:rPr>
              <a:t>YOUR_API_KEY</a:t>
            </a:r>
            <a:endParaRPr lang="fr-FR" sz="2400" b="1" dirty="0">
              <a:solidFill>
                <a:schemeClr val="accent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4633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985422" y="3810000"/>
            <a:ext cx="7910004" cy="1142999"/>
          </a:xfrm>
        </p:spPr>
        <p:txBody>
          <a:bodyPr/>
          <a:lstStyle/>
          <a:p>
            <a:r>
              <a:rPr lang="fr-FR" dirty="0"/>
              <a:t>API et python</a:t>
            </a:r>
          </a:p>
        </p:txBody>
      </p:sp>
    </p:spTree>
    <p:extLst>
      <p:ext uri="{BB962C8B-B14F-4D97-AF65-F5344CB8AC3E}">
        <p14:creationId xmlns:p14="http://schemas.microsoft.com/office/powerpoint/2010/main" val="296523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Clé d’API et Stockage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9" name="Espace réservé du contenu 1">
            <a:extLst>
              <a:ext uri="{FF2B5EF4-FFF2-40B4-BE49-F238E27FC236}">
                <a16:creationId xmlns:a16="http://schemas.microsoft.com/office/drawing/2014/main" id="{13FAFC66-0B68-914E-A2DF-36E92F7BE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+mn-lt"/>
                <a:cs typeface="American Typewriter"/>
              </a:rPr>
              <a:t>Nécessité d’obtenir une clé auprès du service</a:t>
            </a:r>
          </a:p>
          <a:p>
            <a:pPr lvl="1"/>
            <a:r>
              <a:rPr lang="fr-FR" dirty="0">
                <a:cs typeface="American Typewriter"/>
              </a:rPr>
              <a:t>Clé confidentielle à ne pas diffuser !</a:t>
            </a:r>
            <a:endParaRPr lang="fr-FR" dirty="0">
              <a:latin typeface="+mn-lt"/>
              <a:cs typeface="American Typewriter"/>
            </a:endParaRPr>
          </a:p>
          <a:p>
            <a:endParaRPr lang="fr-FR" dirty="0">
              <a:latin typeface="+mn-lt"/>
              <a:cs typeface="American Typewriter"/>
            </a:endParaRPr>
          </a:p>
          <a:p>
            <a:r>
              <a:rPr lang="fr-FR" dirty="0">
                <a:latin typeface="+mn-lt"/>
                <a:cs typeface="American Typewriter"/>
              </a:rPr>
              <a:t>Stockage </a:t>
            </a:r>
            <a:r>
              <a:rPr lang="fr-FR" dirty="0">
                <a:cs typeface="American Typewriter"/>
              </a:rPr>
              <a:t>avec </a:t>
            </a:r>
            <a:r>
              <a:rPr lang="fr-FR" dirty="0">
                <a:latin typeface="+mn-lt"/>
                <a:cs typeface="American Typewriter"/>
              </a:rPr>
              <a:t>un script python</a:t>
            </a:r>
          </a:p>
          <a:p>
            <a:pPr lvl="1"/>
            <a:r>
              <a:rPr lang="fr-FR" dirty="0">
                <a:cs typeface="American Typewriter"/>
              </a:rPr>
              <a:t>Stocker votre clé dans un fichier annexe</a:t>
            </a:r>
          </a:p>
          <a:p>
            <a:pPr lvl="2"/>
            <a:r>
              <a:rPr lang="fr-FR" dirty="0">
                <a:cs typeface="American Typewriter"/>
              </a:rPr>
              <a:t>Ex : </a:t>
            </a:r>
            <a:r>
              <a:rPr lang="fr-FR" dirty="0" err="1">
                <a:latin typeface="American Typewriter"/>
                <a:cs typeface="American Typewriter"/>
              </a:rPr>
              <a:t>credentials.json</a:t>
            </a:r>
            <a:endParaRPr lang="fr-FR" dirty="0">
              <a:latin typeface="American Typewriter"/>
              <a:cs typeface="American Typewriter"/>
            </a:endParaRPr>
          </a:p>
          <a:p>
            <a:pPr lvl="1"/>
            <a:r>
              <a:rPr lang="fr-FR" dirty="0">
                <a:latin typeface="+mn-lt"/>
                <a:cs typeface="American Typewriter"/>
              </a:rPr>
              <a:t>Jamais en dur dans vos scripts !</a:t>
            </a:r>
          </a:p>
          <a:p>
            <a:endParaRPr lang="fr-FR" dirty="0">
              <a:latin typeface="+mn-lt"/>
              <a:cs typeface="American Typewriter"/>
            </a:endParaRPr>
          </a:p>
          <a:p>
            <a:r>
              <a:rPr lang="fr-FR" dirty="0">
                <a:latin typeface="+mn-lt"/>
                <a:cs typeface="American Typewriter"/>
              </a:rPr>
              <a:t>Utilisation d’une clé par un script python</a:t>
            </a:r>
          </a:p>
          <a:p>
            <a:pPr lvl="1"/>
            <a:r>
              <a:rPr lang="fr-FR" dirty="0">
                <a:cs typeface="American Typewriter"/>
              </a:rPr>
              <a:t>Lecture de la clé dans le fichier annexe</a:t>
            </a:r>
            <a:endParaRPr lang="fr-FR" dirty="0">
              <a:latin typeface="+mn-lt"/>
              <a:cs typeface="American Typewriter"/>
            </a:endParaRPr>
          </a:p>
          <a:p>
            <a:pPr lvl="1"/>
            <a:endParaRPr lang="fr-FR" sz="2400" dirty="0">
              <a:latin typeface="+mn-lt"/>
              <a:cs typeface="American Typewriter"/>
            </a:endParaRPr>
          </a:p>
          <a:p>
            <a:pPr lvl="1"/>
            <a:endParaRPr lang="fr-FR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6060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7230BE-6FCC-1B1E-40D3-72E99269B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32" y="16564"/>
            <a:ext cx="7704855" cy="1012136"/>
          </a:xfrm>
        </p:spPr>
        <p:txBody>
          <a:bodyPr/>
          <a:lstStyle/>
          <a:p>
            <a:r>
              <a:rPr lang="fr-FR" dirty="0" err="1"/>
              <a:t>Requete</a:t>
            </a:r>
            <a:r>
              <a:rPr lang="fr-FR" dirty="0"/>
              <a:t> vers une API web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EF5585F-AA39-D148-6657-295796FB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94186" y="6424573"/>
            <a:ext cx="577674" cy="365125"/>
          </a:xfrm>
        </p:spPr>
        <p:txBody>
          <a:bodyPr/>
          <a:lstStyle/>
          <a:p>
            <a:fld id="{D727A26F-F00B-4596-8258-FF21EF8271F6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0C44386-21A3-84D6-79B3-D054E0A9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68413"/>
            <a:ext cx="9340216" cy="4897437"/>
          </a:xfrm>
        </p:spPr>
        <p:txBody>
          <a:bodyPr/>
          <a:lstStyle/>
          <a:p>
            <a:r>
              <a:rPr lang="fr-FR" dirty="0"/>
              <a:t>Inclusion du module</a:t>
            </a:r>
          </a:p>
          <a:p>
            <a:pPr lvl="1"/>
            <a:r>
              <a:rPr lang="fr-FR" altLang="fr-FR" sz="2000" noProof="0" dirty="0">
                <a:latin typeface="American Typewriter"/>
              </a:rPr>
              <a:t>import </a:t>
            </a:r>
            <a:r>
              <a:rPr lang="fr-FR" altLang="fr-FR" sz="2000" noProof="0" dirty="0" err="1">
                <a:latin typeface="American Typewriter"/>
              </a:rPr>
              <a:t>requests</a:t>
            </a:r>
            <a:endParaRPr lang="fr-FR" altLang="fr-FR" sz="2000" noProof="0" dirty="0">
              <a:latin typeface="American Typewriter"/>
            </a:endParaRPr>
          </a:p>
          <a:p>
            <a:pPr lvl="0"/>
            <a:r>
              <a:rPr lang="fr-FR" noProof="0" dirty="0"/>
              <a:t>Construction de la requête </a:t>
            </a:r>
            <a:r>
              <a:rPr lang="fr-FR" dirty="0"/>
              <a:t>des</a:t>
            </a:r>
            <a:r>
              <a:rPr lang="fr-FR" noProof="0" dirty="0"/>
              <a:t> paramètres</a:t>
            </a:r>
          </a:p>
          <a:p>
            <a:pPr lvl="1"/>
            <a:r>
              <a:rPr lang="fr-FR" altLang="fr-FR" sz="2000" dirty="0">
                <a:latin typeface="American Typewriter"/>
              </a:rPr>
              <a:t>url = "https://api.openrouteservice.org/</a:t>
            </a:r>
            <a:r>
              <a:rPr lang="fr-FR" altLang="fr-FR" sz="2000" dirty="0" err="1">
                <a:latin typeface="American Typewriter"/>
              </a:rPr>
              <a:t>geocode</a:t>
            </a:r>
            <a:r>
              <a:rPr lang="fr-FR" altLang="fr-FR" sz="2000" dirty="0">
                <a:latin typeface="American Typewriter"/>
              </a:rPr>
              <a:t>/</a:t>
            </a:r>
            <a:r>
              <a:rPr lang="fr-FR" altLang="fr-FR" sz="2000" dirty="0" err="1">
                <a:latin typeface="American Typewriter"/>
              </a:rPr>
              <a:t>search</a:t>
            </a:r>
            <a:r>
              <a:rPr lang="fr-FR" altLang="fr-FR" sz="2000" dirty="0">
                <a:latin typeface="American Typewriter"/>
              </a:rPr>
              <a:t>"</a:t>
            </a:r>
          </a:p>
          <a:p>
            <a:pPr lvl="1"/>
            <a:r>
              <a:rPr lang="fr-FR" altLang="fr-FR" sz="2000" dirty="0">
                <a:latin typeface="American Typewriter"/>
              </a:rPr>
              <a:t>params={"</a:t>
            </a:r>
            <a:r>
              <a:rPr lang="fr-FR" altLang="fr-FR" sz="2000" dirty="0" err="1">
                <a:latin typeface="American Typewriter"/>
              </a:rPr>
              <a:t>api_key</a:t>
            </a:r>
            <a:r>
              <a:rPr lang="fr-FR" altLang="fr-FR" sz="2000" dirty="0">
                <a:latin typeface="American Typewriter"/>
              </a:rPr>
              <a:t>": API_KEY, "</a:t>
            </a:r>
            <a:r>
              <a:rPr lang="fr-FR" altLang="fr-FR" sz="2000" dirty="0" err="1">
                <a:latin typeface="American Typewriter"/>
              </a:rPr>
              <a:t>text</a:t>
            </a:r>
            <a:r>
              <a:rPr lang="fr-FR" altLang="fr-FR" sz="2000" dirty="0">
                <a:latin typeface="American Typewriter"/>
              </a:rPr>
              <a:t>": adresse} )</a:t>
            </a:r>
            <a:endParaRPr lang="fr-FR" sz="2000" noProof="0" dirty="0">
              <a:latin typeface="American Typewriter"/>
            </a:endParaRPr>
          </a:p>
          <a:p>
            <a:r>
              <a:rPr lang="fr-FR" altLang="fr-FR" dirty="0"/>
              <a:t>Appel de la requête</a:t>
            </a:r>
          </a:p>
          <a:p>
            <a:pPr lvl="1"/>
            <a:r>
              <a:rPr lang="fr-FR" altLang="fr-FR" sz="2000" dirty="0" err="1">
                <a:latin typeface="American Typewriter"/>
              </a:rPr>
              <a:t>reponse</a:t>
            </a:r>
            <a:r>
              <a:rPr lang="fr-FR" altLang="fr-FR" sz="2000" dirty="0">
                <a:latin typeface="American Typewriter"/>
              </a:rPr>
              <a:t> = </a:t>
            </a:r>
            <a:r>
              <a:rPr lang="fr-FR" altLang="fr-FR" sz="2000" dirty="0" err="1">
                <a:latin typeface="American Typewriter"/>
              </a:rPr>
              <a:t>requests.get</a:t>
            </a:r>
            <a:r>
              <a:rPr lang="fr-FR" altLang="fr-FR" sz="2000" dirty="0">
                <a:latin typeface="American Typewriter"/>
              </a:rPr>
              <a:t>(url, </a:t>
            </a:r>
            <a:r>
              <a:rPr lang="fr-FR" altLang="fr-FR" sz="2000" dirty="0" err="1">
                <a:latin typeface="American Typewriter"/>
              </a:rPr>
              <a:t>dico_params</a:t>
            </a:r>
            <a:r>
              <a:rPr lang="fr-FR" altLang="fr-FR" sz="2000" dirty="0">
                <a:latin typeface="American Typewriter"/>
              </a:rPr>
              <a:t>)</a:t>
            </a:r>
          </a:p>
          <a:p>
            <a:r>
              <a:rPr lang="fr-FR" dirty="0"/>
              <a:t>Interprétation du résultat comme un </a:t>
            </a:r>
            <a:r>
              <a:rPr lang="fr-FR" dirty="0" err="1"/>
              <a:t>json</a:t>
            </a:r>
            <a:endParaRPr lang="fr-FR" dirty="0"/>
          </a:p>
          <a:p>
            <a:pPr lvl="1"/>
            <a:r>
              <a:rPr lang="fr-FR" altLang="fr-FR" sz="2000" dirty="0" err="1">
                <a:latin typeface="American Typewriter"/>
              </a:rPr>
              <a:t>donnees</a:t>
            </a:r>
            <a:r>
              <a:rPr lang="fr-FR" altLang="fr-FR" sz="2000" dirty="0">
                <a:latin typeface="American Typewriter"/>
              </a:rPr>
              <a:t> = </a:t>
            </a:r>
            <a:r>
              <a:rPr lang="fr-FR" altLang="fr-FR" sz="2000" dirty="0" err="1">
                <a:latin typeface="American Typewriter"/>
              </a:rPr>
              <a:t>reponse.json</a:t>
            </a:r>
            <a:r>
              <a:rPr lang="fr-FR" altLang="fr-FR" sz="2000" dirty="0">
                <a:latin typeface="American Typewriter"/>
              </a:rPr>
              <a:t>()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2697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Requête vers une API Web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5B0C3-1BFC-FB43-8D1F-01BDC1B1A190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9" name="Espace réservé du contenu 1">
            <a:extLst>
              <a:ext uri="{FF2B5EF4-FFF2-40B4-BE49-F238E27FC236}">
                <a16:creationId xmlns:a16="http://schemas.microsoft.com/office/drawing/2014/main" id="{13FAFC66-0B68-914E-A2DF-36E92F7BE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+mn-lt"/>
                <a:cs typeface="American Typewriter"/>
              </a:rPr>
              <a:t>Requête HTTP</a:t>
            </a:r>
          </a:p>
          <a:p>
            <a:pPr lvl="1"/>
            <a:r>
              <a:rPr lang="fr-FR" sz="2400" dirty="0">
                <a:latin typeface="+mn-lt"/>
                <a:cs typeface="American Typewriter"/>
              </a:rPr>
              <a:t>Préparer la requête</a:t>
            </a:r>
          </a:p>
          <a:p>
            <a:pPr lvl="2"/>
            <a:r>
              <a:rPr lang="fr-FR" dirty="0">
                <a:cs typeface="American Typewriter"/>
              </a:rPr>
              <a:t>URL de base</a:t>
            </a:r>
          </a:p>
          <a:p>
            <a:pPr lvl="2"/>
            <a:endParaRPr lang="fr-FR" dirty="0">
              <a:cs typeface="American Typewriter"/>
            </a:endParaRPr>
          </a:p>
          <a:p>
            <a:pPr lvl="2"/>
            <a:r>
              <a:rPr lang="fr-FR" dirty="0">
                <a:latin typeface="+mn-lt"/>
                <a:cs typeface="American Typewriter"/>
              </a:rPr>
              <a:t>Paramètres additionnels</a:t>
            </a:r>
          </a:p>
          <a:p>
            <a:pPr lvl="1"/>
            <a:endParaRPr lang="fr-FR" sz="2400" dirty="0">
              <a:latin typeface="+mn-lt"/>
              <a:cs typeface="American Typewriter"/>
            </a:endParaRPr>
          </a:p>
          <a:p>
            <a:pPr lvl="1"/>
            <a:r>
              <a:rPr lang="fr-FR" sz="2400" dirty="0">
                <a:latin typeface="+mn-lt"/>
                <a:cs typeface="American Typewriter"/>
              </a:rPr>
              <a:t>Décoder en JSON</a:t>
            </a:r>
          </a:p>
          <a:p>
            <a:pPr lvl="1"/>
            <a:endParaRPr lang="fr-FR" sz="2400" dirty="0">
              <a:latin typeface="+mn-lt"/>
              <a:cs typeface="American Typewriter"/>
            </a:endParaRPr>
          </a:p>
          <a:p>
            <a:pPr lvl="1"/>
            <a:endParaRPr lang="fr-FR" sz="2400" dirty="0">
              <a:latin typeface="+mn-lt"/>
              <a:cs typeface="American Typewriter"/>
            </a:endParaRPr>
          </a:p>
          <a:p>
            <a:pPr lvl="1"/>
            <a:endParaRPr lang="fr-FR" sz="2400" dirty="0">
              <a:latin typeface="+mn-lt"/>
            </a:endParaRPr>
          </a:p>
        </p:txBody>
      </p:sp>
      <p:sp>
        <p:nvSpPr>
          <p:cNvPr id="6" name="Explosion : 14 points 5">
            <a:extLst>
              <a:ext uri="{FF2B5EF4-FFF2-40B4-BE49-F238E27FC236}">
                <a16:creationId xmlns:a16="http://schemas.microsoft.com/office/drawing/2014/main" id="{96045DA6-3AE7-A738-A25E-53812E467A64}"/>
              </a:ext>
            </a:extLst>
          </p:cNvPr>
          <p:cNvSpPr/>
          <p:nvPr/>
        </p:nvSpPr>
        <p:spPr>
          <a:xfrm>
            <a:off x="5003768" y="2719495"/>
            <a:ext cx="4030134" cy="1341120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+mn-lt"/>
                <a:cs typeface="American Typewriter"/>
              </a:rPr>
              <a:t>Connaître la syntaxe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E9382C1-18BC-2A39-19BA-8F8D3138CEBB}"/>
              </a:ext>
            </a:extLst>
          </p:cNvPr>
          <p:cNvCxnSpPr>
            <a:cxnSpLocks/>
          </p:cNvCxnSpPr>
          <p:nvPr/>
        </p:nvCxnSpPr>
        <p:spPr>
          <a:xfrm flipH="1" flipV="1">
            <a:off x="2919307" y="2431627"/>
            <a:ext cx="2192752" cy="609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BFB7959E-9AE7-9D09-3524-BC338900B10B}"/>
              </a:ext>
            </a:extLst>
          </p:cNvPr>
          <p:cNvCxnSpPr>
            <a:cxnSpLocks/>
          </p:cNvCxnSpPr>
          <p:nvPr/>
        </p:nvCxnSpPr>
        <p:spPr>
          <a:xfrm flipH="1" flipV="1">
            <a:off x="4084320" y="3185035"/>
            <a:ext cx="850032" cy="113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62EE2768-AD0E-FE3B-720B-27168244E0F8}"/>
              </a:ext>
            </a:extLst>
          </p:cNvPr>
          <p:cNvCxnSpPr>
            <a:cxnSpLocks/>
          </p:cNvCxnSpPr>
          <p:nvPr/>
        </p:nvCxnSpPr>
        <p:spPr>
          <a:xfrm flipH="1">
            <a:off x="3312160" y="3515360"/>
            <a:ext cx="1483360" cy="4605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675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CE4D77-E994-989F-C805-5C10940C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Principale syntaxe 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D1D6D88-15AD-119D-D4E0-1FCF932A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9D63F18-7418-4936-B6AD-9B8D5FBA6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URL : Choix du service</a:t>
            </a:r>
          </a:p>
          <a:p>
            <a:pPr lvl="1"/>
            <a:r>
              <a:rPr lang="fr-FR" dirty="0"/>
              <a:t>Directions </a:t>
            </a:r>
          </a:p>
          <a:p>
            <a:pPr lvl="2"/>
            <a:r>
              <a:rPr lang="fr-FR" dirty="0"/>
              <a:t>Durée, distance, itinéraire</a:t>
            </a:r>
          </a:p>
          <a:p>
            <a:pPr lvl="1"/>
            <a:r>
              <a:rPr lang="fr-FR" dirty="0" err="1"/>
              <a:t>Geocode</a:t>
            </a:r>
            <a:endParaRPr lang="fr-FR" dirty="0"/>
          </a:p>
          <a:p>
            <a:pPr lvl="2"/>
            <a:r>
              <a:rPr lang="fr-FR" dirty="0"/>
              <a:t>Obtenir les coordonnées GPS d’un lieu</a:t>
            </a:r>
          </a:p>
          <a:p>
            <a:pPr lvl="1"/>
            <a:r>
              <a:rPr lang="fr-FR" dirty="0" err="1"/>
              <a:t>Elevation</a:t>
            </a:r>
            <a:endParaRPr lang="fr-FR" dirty="0"/>
          </a:p>
          <a:p>
            <a:pPr lvl="2"/>
            <a:r>
              <a:rPr lang="fr-FR" dirty="0"/>
              <a:t>Obtenir l’altitude d’un point</a:t>
            </a:r>
          </a:p>
          <a:p>
            <a:r>
              <a:rPr lang="fr-FR" dirty="0"/>
              <a:t>Paramètres</a:t>
            </a:r>
          </a:p>
          <a:p>
            <a:pPr lvl="1"/>
            <a:r>
              <a:rPr lang="fr-FR" dirty="0"/>
              <a:t>Lire la doc de chaque service</a:t>
            </a:r>
          </a:p>
          <a:p>
            <a:r>
              <a:rPr lang="fr-FR" dirty="0"/>
              <a:t>Décodage de la réponse</a:t>
            </a:r>
          </a:p>
          <a:p>
            <a:pPr lvl="1"/>
            <a:r>
              <a:rPr lang="fr-FR" dirty="0"/>
              <a:t>Analyser la structure </a:t>
            </a:r>
            <a:r>
              <a:rPr lang="fr-FR" dirty="0" err="1"/>
              <a:t>json</a:t>
            </a:r>
            <a:r>
              <a:rPr lang="fr-FR" dirty="0"/>
              <a:t> renvoyée</a:t>
            </a:r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9555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5AA8D4-3EB5-6E17-CD54-F4E79439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Open route service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2C8503A-0A55-5F03-E5EB-8B3723DD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27A26F-F00B-4596-8258-FF21EF8271F6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D5497A-D2AA-1B49-AFBF-99EA85228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Site web officiel</a:t>
            </a:r>
          </a:p>
          <a:p>
            <a:pPr lvl="1"/>
            <a:r>
              <a:rPr lang="fr-FR" dirty="0">
                <a:hlinkClick r:id="rId2"/>
              </a:rPr>
              <a:t>https://openrouteservice.org/</a:t>
            </a:r>
            <a:endParaRPr lang="fr-FR" dirty="0"/>
          </a:p>
          <a:p>
            <a:endParaRPr lang="fr-FR" dirty="0"/>
          </a:p>
          <a:p>
            <a:r>
              <a:rPr lang="fr-FR" dirty="0"/>
              <a:t>Documentation simplifiée</a:t>
            </a:r>
          </a:p>
          <a:p>
            <a:pPr lvl="1"/>
            <a:r>
              <a:rPr lang="fr-FR" dirty="0">
                <a:hlinkClick r:id="rId3"/>
              </a:rPr>
              <a:t>https://rtavenar.github.io/doc_openrouteservice/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5687197"/>
      </p:ext>
    </p:extLst>
  </p:cSld>
  <p:clrMapOvr>
    <a:masterClrMapping/>
  </p:clrMapOvr>
</p:sld>
</file>

<file path=ppt/theme/theme1.xml><?xml version="1.0" encoding="utf-8"?>
<a:theme xmlns:a="http://schemas.openxmlformats.org/drawingml/2006/main" name="Rennes2">
  <a:themeElements>
    <a:clrScheme name="Charte Université Rennes 2">
      <a:dk1>
        <a:sysClr val="windowText" lastClr="000000"/>
      </a:dk1>
      <a:lt1>
        <a:sysClr val="window" lastClr="FFFFFF"/>
      </a:lt1>
      <a:dk2>
        <a:srgbClr val="7F7F7F"/>
      </a:dk2>
      <a:lt2>
        <a:srgbClr val="EEECE1"/>
      </a:lt2>
      <a:accent1>
        <a:srgbClr val="E60000"/>
      </a:accent1>
      <a:accent2>
        <a:srgbClr val="004DFF"/>
      </a:accent2>
      <a:accent3>
        <a:srgbClr val="29C200"/>
      </a:accent3>
      <a:accent4>
        <a:srgbClr val="5C3BFF"/>
      </a:accent4>
      <a:accent5>
        <a:srgbClr val="FFFF00"/>
      </a:accent5>
      <a:accent6>
        <a:srgbClr val="FF33FF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>
                <a:lumMod val="50000"/>
              </a:schemeClr>
            </a:solidFill>
            <a:latin typeface="Verdan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1902</TotalTime>
  <Words>736</Words>
  <Application>Microsoft Office PowerPoint</Application>
  <PresentationFormat>Affichage à l'écran (4:3)</PresentationFormat>
  <Paragraphs>128</Paragraphs>
  <Slides>13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American Typewriter</vt:lpstr>
      <vt:lpstr>Arial</vt:lpstr>
      <vt:lpstr>Arial Unicode MS</vt:lpstr>
      <vt:lpstr>Calibri</vt:lpstr>
      <vt:lpstr>Pochoir Pleine</vt:lpstr>
      <vt:lpstr>Verdana</vt:lpstr>
      <vt:lpstr>Rennes2</vt:lpstr>
      <vt:lpstr>Python et Open Data  API OpenRouteService</vt:lpstr>
      <vt:lpstr>Généralités sur les API</vt:lpstr>
      <vt:lpstr>définition</vt:lpstr>
      <vt:lpstr>Exemples d’API web</vt:lpstr>
      <vt:lpstr>Exemple d’utilisation</vt:lpstr>
      <vt:lpstr>Requête vers une API WEB</vt:lpstr>
      <vt:lpstr>Notion de clé</vt:lpstr>
      <vt:lpstr>API et python</vt:lpstr>
      <vt:lpstr>Clé d’API et Stockage</vt:lpstr>
      <vt:lpstr>Requete vers une API web</vt:lpstr>
      <vt:lpstr>Requête vers une API Web</vt:lpstr>
      <vt:lpstr>Principale syntaxe </vt:lpstr>
      <vt:lpstr>Open route service</vt:lpstr>
    </vt:vector>
  </TitlesOfParts>
  <Company>INRIA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et Open Data</dc:title>
  <dc:creator>Aurélie Lemaitre-Legargeant</dc:creator>
  <cp:lastModifiedBy>Aurelie Lemaitre</cp:lastModifiedBy>
  <cp:revision>40</cp:revision>
  <dcterms:created xsi:type="dcterms:W3CDTF">2021-08-31T16:02:36Z</dcterms:created>
  <dcterms:modified xsi:type="dcterms:W3CDTF">2026-08-24T13:15:26Z</dcterms:modified>
</cp:coreProperties>
</file>